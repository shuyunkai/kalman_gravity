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全场 11 页，九个章节：重力场是什么 → 两条主流路线 → 存在的问题 → 卡尔曼滤波能解决什么 → 原理 → 本项目思路 → 本项目流程 → 结果验证 → 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这一页只建立概念：理论重力由经纬度与高程决定（正常重力场）；实测值减去理论值得到重力异常。右侧是研究区的实际重力异常场，海沟为强负异常、洋脊为相对高值 —— 这就是后面要加密的那张场。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测高反演的链条：海面高 → 沿轨求导得垂线偏差 → 逆 Vening-Meinesz 或谱方法 → 重力异常。四个模型都是 1′，因为再细就没有测高信息支撑了。右侧四条问题逐条讲：病态反演、轨道间插值、单一数据源、1′ 采样率。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左图是同一片海域 1′ 与 15″ 的对比 —— 1′ 是台阶状，15″ 才有细节。三张卡片各写一条路线的方法、代表工作与具体局限：深度学习缺 15″ 真值标签；频域融合的截止波长随区域剧烈变化；协同融合需要人工给权重且产出仍是 1′。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只用一类数据：来自 2.1 的测高路线与空间插值；② 权重靠人为给定：来自 2.2 的频域融合（截止波长）与协同融合（融合权重）；③ 只输出一张场图：五种做法都没有逐像元不确定度；④ 停在 1′：公开模型与三条重建路线都以 1′ 为产出。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逐行讲：观测向量 z 容纳三类观测；观测噪声 R 与过程噪声 Q 决定权重，由卡尔曼增益自动算出；状态协方差 P 直接给出逐像元不确定度；状态定义在 15″，于是解自然落在 1′ 以下。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只讲通用原理：预测步用空间相关模型外推、不确定度增大；校正步用观测修正、不确定度减小；两者之间的权重就是卡尔曼增益。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与前一页的对照图对应：观测向量容纳三类数据，权重由 R/Q 决定，状态携带方差。这一页只讲「三类数据怎么进来」，细节参数在下一页。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参数：α=0.5、σ=4 像元、R_sat=9、R_ship=1、Q=4 mGal²、六轮迭代 + RTS 平滑。协方差取逐像元方差（对角近似），这是 1.84e7 维状态下的可算性取舍。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验证设计是这份工作最容易被质疑的地方，所以要单独一页。三个区域互不重叠；20 条航次里 17 条参与解算、3 条整条留出；参数在三个区域上完全冻结，因此区域间差异只来自数据本身。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15″ 点口径下（mGal）：综合验证区 4.173（对 SSV 4.674）、南海-琉球 4.748、菲律宾海中部 1.455；三个区域都用同一套参数，未做任何重调。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口径差异来自采样：15″ 点对点保留了船测的高频起伏，块均值则先平滑。国际上模型间对比多用 1′ 块口径，所以两种都报。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这张图回答「改善是不是只靠换基线」：两条基线都对比了，都是正的。菲律宾海中部绝对量小是因为该区本身误差水平就低（1.5 mGal 量级）。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总结页在提问环节一直挂在屏幕上，三张卡片对应三个问题。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6126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70048"/>
            <a:ext cx="62179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D8E0EC"/>
                </a:solidFill>
                <a:latin typeface="微软雅黑"/>
              </a:rPr>
              <a:t>从 1′ 卫星测高重力到 15″ 场：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D8E0EC"/>
                </a:solidFill>
                <a:latin typeface="微软雅黑"/>
              </a:rPr>
              <a:t>方法、实测验证与横向对比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3621024"/>
            <a:ext cx="256032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13632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15″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17136"/>
            <a:ext cx="204825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8E0EC"/>
                </a:solidFill>
                <a:latin typeface="微软雅黑"/>
              </a:rPr>
              <a:t>重建分辨率，由 1′ 提升 4 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7" y="3986784"/>
            <a:ext cx="7315" cy="85953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3913632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4517136"/>
            <a:ext cx="204825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8E0EC"/>
                </a:solidFill>
                <a:latin typeface="微软雅黑"/>
              </a:rPr>
              <a:t>个互不重叠的验证区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3986784"/>
            <a:ext cx="7315" cy="85953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913632"/>
            <a:ext cx="2011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12.7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517136"/>
            <a:ext cx="204825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8E0EC"/>
                </a:solidFill>
                <a:latin typeface="微软雅黑"/>
              </a:rPr>
              <a:t>个未参与解算的验证点</a:t>
            </a:r>
          </a:p>
        </p:txBody>
      </p:sp>
      <p:pic>
        <p:nvPicPr>
          <p:cNvPr id="16" name="Picture 15" descr="fig_cove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627632"/>
            <a:ext cx="4535424" cy="35010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78040" y="5797296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8A93A0"/>
                </a:solidFill>
                <a:latin typeface="微软雅黑"/>
              </a:rPr>
              <a:t>研究区与三个独立验证区（红框）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15584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微软雅黑"/>
              </a:rPr>
              <a:t>汇报人　＿＿＿＿＿＿　　　报告日期　＿＿＿＿＿＿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1.1 ｜ 什么是地球重力场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按经纬度与高程可以算出任一位置的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理论重力值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；当地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实测值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与理论值之差，就是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重力异常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 Δg。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5B6573"/>
                </a:solidFill>
                <a:latin typeface="微软雅黑"/>
              </a:rPr>
              <a:t>它反映的是地下物质分布的不均匀 —— 海沟、洋脊、海山都会在 Δg 上留下印记。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gra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54480"/>
            <a:ext cx="11155680" cy="393814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重力异常不是「重力」本身，而是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它与理论值之差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 —— 这正是要重建的对象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2.1 ｜ 主流方法（一）：1′ 卫星测高重力模型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最主流的路线是用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卫星测高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得到的海面高反演重力场；目前公开的全球模型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全部为 1′ 分辨率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alti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355" y="1444752"/>
            <a:ext cx="6800984" cy="19933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3584448"/>
            <a:ext cx="5486400" cy="23317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584448"/>
            <a:ext cx="68580" cy="23317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7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65C"/>
                </a:solidFill>
                <a:latin typeface="微软雅黑"/>
              </a:rPr>
              <a:t>代表工作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41648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65C"/>
                </a:solidFill>
                <a:latin typeface="微软雅黑"/>
              </a:rPr>
              <a:t>SIO 系列　</a:t>
            </a:r>
            <a:r>
              <a:rPr sz="1100" b="0">
                <a:solidFill>
                  <a:srgbClr val="5B6573"/>
                </a:solidFill>
                <a:latin typeface="微软雅黑"/>
              </a:rPr>
              <a:t>Sandwell 等, Science 346(6205): 65–67, 2014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25696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2569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65C"/>
                </a:solidFill>
                <a:latin typeface="微软雅黑"/>
              </a:rPr>
              <a:t>SDUST2022GRA　</a:t>
            </a:r>
            <a:r>
              <a:rPr sz="1100" b="0">
                <a:solidFill>
                  <a:srgbClr val="5B6573"/>
                </a:solidFill>
                <a:latin typeface="微软雅黑"/>
              </a:rPr>
              <a:t>Li 等, ESSD 16: 4119–4135,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0974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0974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65C"/>
                </a:solidFill>
                <a:latin typeface="微软雅黑"/>
              </a:rPr>
              <a:t>NSOAS24　</a:t>
            </a:r>
            <a:r>
              <a:rPr sz="1100" b="0">
                <a:solidFill>
                  <a:srgbClr val="5B6573"/>
                </a:solidFill>
                <a:latin typeface="微软雅黑"/>
              </a:rPr>
              <a:t>Zhang 等, GMD 18: 1221–1239,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9379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9379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65C"/>
                </a:solidFill>
                <a:latin typeface="微软雅黑"/>
              </a:rPr>
              <a:t>DTU21GRA　</a:t>
            </a:r>
            <a:r>
              <a:rPr sz="1100" b="0">
                <a:solidFill>
                  <a:srgbClr val="5B6573"/>
                </a:solidFill>
                <a:latin typeface="微软雅黑"/>
              </a:rPr>
              <a:t>DTU Space 数据产品（1′）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584448"/>
            <a:ext cx="5769864" cy="23317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3584448"/>
            <a:ext cx="68580" cy="233172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675887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65C"/>
                </a:solidFill>
                <a:latin typeface="微软雅黑"/>
              </a:rPr>
              <a:t>这些产品的共同特征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096512"/>
            <a:ext cx="274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65C"/>
                </a:solidFill>
                <a:latin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78224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430"/>
                </a:solidFill>
                <a:latin typeface="微软雅黑"/>
              </a:rPr>
              <a:t>全球 1′ 覆盖，无海陆空缺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553712"/>
            <a:ext cx="274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65C"/>
                </a:solidFill>
                <a:latin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35424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430"/>
                </a:solidFill>
                <a:latin typeface="微软雅黑"/>
              </a:rPr>
              <a:t>已公开发布，可直接下载使用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5010912"/>
            <a:ext cx="274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65C"/>
                </a:solidFill>
                <a:latin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92624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430"/>
                </a:solidFill>
                <a:latin typeface="微软雅黑"/>
              </a:rPr>
              <a:t>分辨率上限 1′（≈1.85 km）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468112"/>
            <a:ext cx="274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65C"/>
                </a:solidFill>
                <a:latin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49824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430"/>
                </a:solidFill>
                <a:latin typeface="微软雅黑"/>
              </a:rPr>
              <a:t>低频精度高，是高分辨率重建的基准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全球 1′ 覆盖是它的优势，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1′ 以下的短波在模型中缺失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 是它的天花板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2.2 ｜ 主流方法（二）：15″ 高分辨率重建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要把分辨率推进到 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15″（≈460 m）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，必须把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船测重力与海底地形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引入；主流方法有三条路线，各有各的代价。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040" y="1426464"/>
            <a:ext cx="5543613" cy="18470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3438144"/>
            <a:ext cx="3639312" cy="26060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438144"/>
            <a:ext cx="3639312" cy="9144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360273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65C"/>
                </a:solidFill>
                <a:latin typeface="微软雅黑"/>
              </a:rPr>
              <a:t>深度学习反演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91363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微软雅黑"/>
              </a:rPr>
              <a:t>Zhu 等, IEEE TGRS 61: 1–11,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297680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  <a:latin typeface="微软雅黑"/>
              </a:rPr>
              <a:t>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535424"/>
            <a:ext cx="3273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需要成对训练样本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4809744"/>
            <a:ext cx="32735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6573"/>
                </a:solidFill>
                <a:latin typeface="微软雅黑"/>
              </a:rPr>
              <a:t>本区没有 15″ 真值标签，网络输出仍以 1′ 网格作标签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438144"/>
            <a:ext cx="3639312" cy="26060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3438144"/>
            <a:ext cx="3639312" cy="9144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7" y="360273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65C"/>
                </a:solidFill>
                <a:latin typeface="微软雅黑"/>
              </a:rPr>
              <a:t>频域分频融合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391363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微软雅黑"/>
              </a:rPr>
              <a:t>Chen 等, GJI 236(3): 1262–1274,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4297680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  <a:latin typeface="微软雅黑"/>
              </a:rPr>
              <a:t>局限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4535424"/>
            <a:ext cx="3273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截止波长必须人为给定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4809744"/>
            <a:ext cx="32735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6573"/>
                </a:solidFill>
                <a:latin typeface="微软雅黑"/>
              </a:rPr>
              <a:t>本区实测随区域在 0.8–27 km 之间变，不是一个稳定的客观量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3438144"/>
            <a:ext cx="3639312" cy="26060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438144"/>
            <a:ext cx="3639312" cy="9144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60273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6365C"/>
                </a:solidFill>
                <a:latin typeface="微软雅黑"/>
              </a:rPr>
              <a:t>测高与船测协同融合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1363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573"/>
                </a:solidFill>
                <a:latin typeface="微软雅黑"/>
              </a:rPr>
              <a:t>刘乾坤 等, 空间科学学报,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97680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  <a:latin typeface="微软雅黑"/>
              </a:rPr>
              <a:t>局限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535424"/>
            <a:ext cx="32735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微软雅黑"/>
              </a:rPr>
              <a:t>需给定融合权重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09744"/>
            <a:ext cx="32735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6573"/>
                </a:solidFill>
                <a:latin typeface="微软雅黑"/>
              </a:rPr>
              <a:t>权重随区域与水深变化，且产出仍为 1′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三条路线都受制于各自的代价，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15″ 仍是当前的前沿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；而且各自只解决了一环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3.1 ｜ 现有方法存在的问题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把上面两条路线、五种做法放在一起看，它们的局限可以归纳成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四个卡点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95" y="1572768"/>
            <a:ext cx="11127105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754880"/>
            <a:ext cx="11430000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前两个卡点决定「能不能把三类数据用上」，后两个决定「结果能不能被检验」。四个卡点都不是算法本身不够好，而是信息没有被组织起来。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四个卡点归结起来是一件事：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信息没有被写进同一套方程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4.1 ｜ 卡尔曼滤波能解决什么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卡尔曼滤波把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观测、误差、状态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写成一组递推方程 —— 四个卡点可以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一一对上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87" y="1517904"/>
            <a:ext cx="10459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956048"/>
            <a:ext cx="11430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C2430"/>
                </a:solidFill>
                <a:latin typeface="微软雅黑"/>
              </a:rPr>
              <a:t>对应关系不是比喻：每一行的右边都是方程里真实存在的量，换掉任何一个，对应的卡点就会重新出现。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它解决的不是某一环，而是让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四环同时成立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5.1 ｜ 什么是卡尔曼滤波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一个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「预测 — 加权校正」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的递推循环，每一步都带着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不确定度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kf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548" y="1444752"/>
            <a:ext cx="8180597" cy="3611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" y="4992624"/>
            <a:ext cx="3310128" cy="10058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992624"/>
            <a:ext cx="68580" cy="100584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506577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6365C"/>
                </a:solidFill>
                <a:latin typeface="微软雅黑"/>
              </a:rPr>
              <a:t>① 一句话理解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535838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7AA7"/>
                </a:solidFill>
                <a:latin typeface="微软雅黑"/>
              </a:rPr>
              <a:t>边预测，边修正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573"/>
                </a:solidFill>
                <a:latin typeface="微软雅黑"/>
              </a:rPr>
              <a:t>先按物理规律推一步，再用观测纠偏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2272" y="4992624"/>
            <a:ext cx="3310128" cy="10058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4992624"/>
            <a:ext cx="68580" cy="100584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506577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6365C"/>
                </a:solidFill>
                <a:latin typeface="微软雅黑"/>
              </a:rPr>
              <a:t>② 为什么能超分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535838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7AA7"/>
                </a:solidFill>
                <a:latin typeface="微软雅黑"/>
              </a:rPr>
              <a:t>观测在 1′，状态在 15″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573"/>
                </a:solidFill>
                <a:latin typeface="微软雅黑"/>
              </a:rPr>
              <a:t>两者之间由观测矩阵 H 建立映射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4992624"/>
            <a:ext cx="3310128" cy="10058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4992624"/>
            <a:ext cx="68580" cy="100584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506577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6365C"/>
                </a:solidFill>
                <a:latin typeface="微软雅黑"/>
              </a:rPr>
              <a:t>③ 与一次性求解的区别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535838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7AA7"/>
                </a:solidFill>
                <a:latin typeface="微软雅黑"/>
              </a:rPr>
              <a:t>不解大矩阵，逐像元递推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573"/>
                </a:solidFill>
                <a:latin typeface="微软雅黑"/>
              </a:rPr>
              <a:t>1.84e7 维状态向量也可算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谁更可信就多听谁的 —— 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权重由误差自动给出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，不需要人为设定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6.1 ｜ 本项目的思路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把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卫星测高重力、船载重力、海底地形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三类数据写进同一套方程，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状态就是 15″ 重力场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388" y="1463040"/>
            <a:ext cx="7252918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663440"/>
            <a:ext cx="1143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卫星测高给低频框架、船测给局部高精度约束、海底地形给高频物理先验 —— 三者的角色不同，但都被写成观测方程，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16365C"/>
                </a:solidFill>
                <a:latin typeface="微软雅黑"/>
              </a:rPr>
              <a:t>按各自精度参与，而不是简单加权。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三类观测各按自身精度参与，输出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带逐像元不确定度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7.1 ｜ 本项目的卡尔曼滤波流程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状态有 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1.84×10⁷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 个未知数，卫星观测只有 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1.15×10⁶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 个 —— 观测远少于未知数，只能递推求解。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rojec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65" y="1463040"/>
            <a:ext cx="10377763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431536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先验用 SSV 块填充叠加地形高频；六轮预测—校正交替，卫星与船测分两步更新；最后做一次反向平滑抑制路径效应。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六轮递推 + 反向平滑，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参数全域冻结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，三个验证区共用同一套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8.1 ｜ 验证设计：留出协议与评估口径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三个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互不重叠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的验证区；留出单元是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整条航次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而不是单个测点；参数在三个区域上完全冻结。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validation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" y="1481328"/>
            <a:ext cx="11201400" cy="36476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整条航次留出、参数全域冻结、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12.7 万个验证点全部未参与解算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8.2 ｜ 结果（一）：三个区域的横向对比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15″ 点口径下，与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已发布的 SSV33.1 模型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及三种插值基线、频域融合逐一对比。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91" y="1444752"/>
            <a:ext cx="9917512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5138928"/>
            <a:ext cx="11430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573"/>
                </a:solidFill>
                <a:latin typeface="微软雅黑"/>
              </a:rPr>
              <a:t>插值类三种基线均由第三方库实现（Verde v1.9.0 的 KNeighbors / Linear、PyKrige v1.7.3 的 OrdinaryKriging），与本方法使用完全相同的留出航次与评估函数。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三个验证区、15 个对比格次，卡尔曼滤波全部取优，改善 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9.4% ~ 10.7%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8.3 ｜ 结果（二）：同一份结果，两种口径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同一份 15″ 结果，用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两种口径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去评，差别可达 1.03 mGal —— 所以报精度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必须写明口径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6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624" y="1517904"/>
            <a:ext cx="8016445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956048"/>
            <a:ext cx="11430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15″ 点口径：模型点直接对船载原始 10 s 采样点；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16365C"/>
                </a:solidFill>
                <a:latin typeface="微软雅黑"/>
              </a:rPr>
              <a:t>1′ 块口径：模型块均值对船载块均值 —— 后者是国际上模型间对比的通用口径。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两种口径差 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0.02 ~ 1.03 mGal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，报告中必须注明用的是哪一种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8.4 ｜ 结果（三）：改善幅度分解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把改善量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按基线拆开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看：相对卫星模型与相对频域融合分别是多少。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83" y="1517904"/>
            <a:ext cx="10729528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992624"/>
            <a:ext cx="11430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相对卫星模型的改善（0.15–0.50 mGal）明显大于相对频域融合（0.11–0.40 mGal）—— 说明频域融合本身已经吃掉了一部分短波，本方法在它之上仍有增益。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相对卫星模型 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9.4% ~ 10.7%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，相对频域融合 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6.9% ~ 8.8%</a:t>
            </a:r>
            <a:r>
              <a:rPr sz="1500" b="1">
                <a:solidFill>
                  <a:srgbClr val="16365C"/>
                </a:solidFill>
                <a:latin typeface="微软雅黑"/>
              </a:rPr>
              <a:t>，两者都为正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384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8961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9.1 ｜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73736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D8E0EC"/>
                </a:solidFill>
                <a:latin typeface="微软雅黑"/>
              </a:rPr>
              <a:t>卡尔曼滤波重建地球重力场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68096"/>
            <a:ext cx="841248" cy="274320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09244"/>
            <a:ext cx="8412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45236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B6573"/>
                </a:solidFill>
                <a:latin typeface="微软雅黑"/>
              </a:rPr>
              <a:t>三类观测递推求解 15″ 重力场，</a:t>
            </a:r>
            <a:r>
              <a:rPr sz="1350" b="1">
                <a:solidFill>
                  <a:srgbClr val="C0392B"/>
                </a:solidFill>
                <a:latin typeface="微软雅黑"/>
              </a:rPr>
              <a:t>三个验证区改善 9.4% ~ 10.7%</a:t>
            </a:r>
            <a:r>
              <a:rPr sz="1350" b="0">
                <a:solidFill>
                  <a:srgbClr val="5B6573"/>
                </a:solidFill>
                <a:latin typeface="微软雅黑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11420856" cy="9144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00784"/>
            <a:ext cx="3346704" cy="28346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00784"/>
            <a:ext cx="3346704" cy="100584"/>
          </a:xfrm>
          <a:prstGeom prst="rect">
            <a:avLst/>
          </a:prstGeom>
          <a:solidFill>
            <a:srgbClr val="16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75104"/>
            <a:ext cx="28895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65C"/>
                </a:solidFill>
                <a:latin typeface="微软雅黑"/>
              </a:rPr>
              <a:t>以 15″ 重力场为状态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23744"/>
            <a:ext cx="287121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C2430"/>
                </a:solidFill>
                <a:latin typeface="微软雅黑"/>
              </a:rPr>
              <a:t>把卫星测高重力、船载重力、海底地形三类观测写进同一套方程，状态就是待求的 15″ 重力场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3" y="1700784"/>
            <a:ext cx="3346704" cy="28346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3" y="1700784"/>
            <a:ext cx="3346704" cy="100584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1975104"/>
            <a:ext cx="28895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A7AA7"/>
                </a:solidFill>
                <a:latin typeface="微软雅黑"/>
              </a:rPr>
              <a:t>把观测写成同一套方程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3" y="2523744"/>
            <a:ext cx="287121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C2430"/>
                </a:solidFill>
                <a:latin typeface="微软雅黑"/>
              </a:rPr>
              <a:t>五种现有做法各缺一环；只有把观测写成方程，多源同解、权重自定、精度可查才能同时成立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7" y="1700784"/>
            <a:ext cx="3346704" cy="28346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7" y="1700784"/>
            <a:ext cx="3346704" cy="1005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9" y="1975104"/>
            <a:ext cx="288950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微软雅黑"/>
              </a:rPr>
              <a:t>三个区改善 9.4%~10.7%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523744"/>
            <a:ext cx="287121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C2430"/>
                </a:solidFill>
                <a:latin typeface="微软雅黑"/>
              </a:rPr>
              <a:t>12.7 万个验证点、15 个对比格次全部取优，且三个区域共用同一套参数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9744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6365C"/>
                </a:solidFill>
                <a:latin typeface="微软雅黑"/>
              </a:rPr>
              <a:t>下一步：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573"/>
                </a:solidFill>
                <a:latin typeface="微软雅黑"/>
              </a:rPr>
              <a:t>用公开的俯冲带剩余重力格网独立复验；把逐像元方差用于标定可信区间与排序补测航段。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6163056"/>
            <a:ext cx="11420856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6163056"/>
            <a:ext cx="68580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263640"/>
            <a:ext cx="10927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65C"/>
                </a:solidFill>
                <a:latin typeface="微软雅黑"/>
              </a:rPr>
              <a:t>三类观测同解、权重自定、精度可查 —— </a:t>
            </a:r>
            <a:r>
              <a:rPr sz="1500" b="1">
                <a:solidFill>
                  <a:srgbClr val="C0392B"/>
                </a:solidFill>
                <a:latin typeface="微软雅黑"/>
              </a:rPr>
              <a:t>这是相对其余五类方法的立足点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